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63" r:id="rId6"/>
    <p:sldId id="260" r:id="rId7"/>
    <p:sldId id="261" r:id="rId8"/>
    <p:sldId id="262" r:id="rId9"/>
    <p:sldId id="258" r:id="rId10"/>
    <p:sldId id="275" r:id="rId11"/>
    <p:sldId id="266" r:id="rId12"/>
    <p:sldId id="273" r:id="rId13"/>
    <p:sldId id="264" r:id="rId14"/>
    <p:sldId id="267" r:id="rId15"/>
    <p:sldId id="268" r:id="rId16"/>
    <p:sldId id="269" r:id="rId17"/>
    <p:sldId id="287" r:id="rId18"/>
    <p:sldId id="271" r:id="rId19"/>
    <p:sldId id="272" r:id="rId20"/>
    <p:sldId id="274" r:id="rId21"/>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779145" y="0"/>
            <a:ext cx="11429365" cy="6858000"/>
          </a:xfrm>
          <a:prstGeom prst="rect">
            <a:avLst/>
          </a:prstGeom>
        </p:spPr>
      </p:pic>
      <p:sp>
        <p:nvSpPr>
          <p:cNvPr id="2" name="标题 1"/>
          <p:cNvSpPr>
            <a:spLocks noGrp="1"/>
          </p:cNvSpPr>
          <p:nvPr>
            <p:ph type="ctrTitle"/>
          </p:nvPr>
        </p:nvSpPr>
        <p:spPr>
          <a:xfrm>
            <a:off x="35560" y="1630680"/>
            <a:ext cx="5026025" cy="2387600"/>
          </a:xfrm>
        </p:spPr>
        <p:txBody>
          <a:bodyPr>
            <a:normAutofit fontScale="90000"/>
          </a:bodyPr>
          <a:p>
            <a:r>
              <a:rPr lang="en-US" altLang="zh-CN" b="1" i="1"/>
              <a:t>Gestalt Principle in Auditory Perception</a:t>
            </a:r>
            <a:endParaRPr lang="en-US" altLang="zh-CN" b="1" i="1"/>
          </a:p>
        </p:txBody>
      </p:sp>
      <p:sp>
        <p:nvSpPr>
          <p:cNvPr id="3" name="副标题 2"/>
          <p:cNvSpPr>
            <a:spLocks noGrp="1"/>
          </p:cNvSpPr>
          <p:nvPr>
            <p:ph type="subTitle" idx="1"/>
          </p:nvPr>
        </p:nvSpPr>
        <p:spPr>
          <a:xfrm>
            <a:off x="227330" y="4336415"/>
            <a:ext cx="4273550" cy="1655445"/>
          </a:xfrm>
        </p:spPr>
        <p:txBody>
          <a:bodyPr/>
          <a:p>
            <a:pPr algn="r"/>
            <a:r>
              <a:rPr lang="en-US" altLang="zh-CN" i="1"/>
              <a:t>Yuhe Qin 2024.11.14</a:t>
            </a:r>
            <a:endParaRPr lang="en-US" altLang="zh-CN" i="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256540"/>
            <a:ext cx="10515600" cy="1325563"/>
          </a:xfrm>
        </p:spPr>
        <p:txBody>
          <a:bodyPr/>
          <a:p>
            <a:r>
              <a:rPr lang="en-US" altLang="zh-CN" b="1" i="1"/>
              <a:t>Introduction</a:t>
            </a:r>
            <a:endParaRPr lang="en-US" altLang="zh-CN" b="1" i="1"/>
          </a:p>
        </p:txBody>
      </p:sp>
      <p:sp>
        <p:nvSpPr>
          <p:cNvPr id="3" name="内容占位符 2"/>
          <p:cNvSpPr>
            <a:spLocks noGrp="1"/>
          </p:cNvSpPr>
          <p:nvPr>
            <p:ph idx="1"/>
          </p:nvPr>
        </p:nvSpPr>
        <p:spPr>
          <a:xfrm>
            <a:off x="838200" y="1521460"/>
            <a:ext cx="10938510" cy="4351655"/>
          </a:xfrm>
        </p:spPr>
        <p:txBody>
          <a:bodyPr>
            <a:normAutofit/>
          </a:bodyPr>
          <a:p>
            <a:pPr marL="0" indent="0">
              <a:buNone/>
            </a:pPr>
            <a:r>
              <a:rPr lang="zh-CN" altLang="en-US" b="1"/>
              <a:t>Gestalt theory</a:t>
            </a:r>
            <a:r>
              <a:rPr lang="zh-CN" altLang="en-US"/>
              <a:t>, widely employed in cognitive psychology, explains fundamental principles of visual perception.</a:t>
            </a:r>
            <a:endParaRPr lang="zh-CN" altLang="en-US"/>
          </a:p>
          <a:p>
            <a:pPr marL="0" indent="0">
              <a:buNone/>
            </a:pPr>
            <a:r>
              <a:rPr lang="zh-CN" altLang="en-US"/>
              <a:t>In recent years, these principles have also been extensively applied to </a:t>
            </a:r>
            <a:r>
              <a:rPr lang="zh-CN" altLang="en-US" u="sng"/>
              <a:t>auditory perception</a:t>
            </a:r>
            <a:r>
              <a:rPr lang="zh-CN" altLang="en-US"/>
              <a:t>.</a:t>
            </a:r>
            <a:endParaRPr lang="zh-CN" altLang="en-US"/>
          </a:p>
          <a:p>
            <a:pPr marL="0" indent="0">
              <a:buNone/>
            </a:pPr>
            <a:r>
              <a:rPr lang="zh-CN" altLang="en-US"/>
              <a:t>Inspired by a Gestalt computational model in visual perception</a:t>
            </a:r>
            <a:r>
              <a:rPr lang="en-US" altLang="zh-CN"/>
              <a:t>*</a:t>
            </a:r>
            <a:r>
              <a:rPr lang="zh-CN" altLang="en-US"/>
              <a:t>, we aim to </a:t>
            </a:r>
            <a:r>
              <a:rPr lang="zh-CN" altLang="en-US" i="1"/>
              <a:t>identify regular patterns in auditory perception</a:t>
            </a:r>
            <a:r>
              <a:rPr lang="zh-CN" altLang="en-US"/>
              <a:t> and </a:t>
            </a:r>
            <a:r>
              <a:rPr lang="zh-CN" altLang="en-US" i="1"/>
              <a:t>develop a corresponding computational model</a:t>
            </a:r>
            <a:r>
              <a:rPr lang="zh-CN" altLang="en-US"/>
              <a:t>.</a:t>
            </a:r>
            <a:endParaRPr lang="zh-CN" altLang="en-US"/>
          </a:p>
        </p:txBody>
      </p:sp>
      <p:sp>
        <p:nvSpPr>
          <p:cNvPr id="4" name="文本框 3"/>
          <p:cNvSpPr txBox="1"/>
          <p:nvPr/>
        </p:nvSpPr>
        <p:spPr>
          <a:xfrm>
            <a:off x="3084195" y="6377305"/>
            <a:ext cx="8921115" cy="368300"/>
          </a:xfrm>
          <a:prstGeom prst="rect">
            <a:avLst/>
          </a:prstGeom>
          <a:noFill/>
        </p:spPr>
        <p:txBody>
          <a:bodyPr wrap="square" rtlCol="0">
            <a:spAutoFit/>
          </a:bodyPr>
          <a:p>
            <a:r>
              <a:rPr lang="en-US" altLang="zh-CN" i="1"/>
              <a:t>*</a:t>
            </a:r>
            <a:r>
              <a:rPr lang="zh-CN" altLang="en-US" i="1"/>
              <a:t>Jiayu Zhou et al., The gestalt computational model, arXiv preprint arXiv:2405.20583v1 (2024)</a:t>
            </a:r>
            <a:r>
              <a:rPr lang="en-US" altLang="zh-CN" i="1"/>
              <a:t>.</a:t>
            </a:r>
            <a:endParaRPr lang="en-US" altLang="zh-CN" i="1"/>
          </a:p>
        </p:txBody>
      </p:sp>
      <p:pic>
        <p:nvPicPr>
          <p:cNvPr id="6" name="图片 5"/>
          <p:cNvPicPr>
            <a:picLocks noChangeAspect="1"/>
          </p:cNvPicPr>
          <p:nvPr/>
        </p:nvPicPr>
        <p:blipFill>
          <a:blip r:embed="rId1"/>
          <a:stretch>
            <a:fillRect/>
          </a:stretch>
        </p:blipFill>
        <p:spPr>
          <a:xfrm>
            <a:off x="4124325" y="4493260"/>
            <a:ext cx="3943350" cy="16383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pPr marL="0" indent="0">
              <a:lnSpc>
                <a:spcPct val="120000"/>
              </a:lnSpc>
              <a:buFont typeface="Arial" panose="020B0604020202020204" pitchFamily="34" charset="0"/>
            </a:pPr>
            <a:r>
              <a:rPr lang="en-US" altLang="zh-CN" sz="3100"/>
              <a:t>Gestalt Principle in Visual Perception</a:t>
            </a:r>
            <a:br>
              <a:rPr lang="en-US" altLang="zh-CN"/>
            </a:br>
            <a:r>
              <a:rPr lang="en-US" altLang="zh-CN" b="1" i="1"/>
              <a:t>Proximity</a:t>
            </a:r>
            <a:endParaRPr lang="en-US" altLang="zh-CN" b="1" i="1"/>
          </a:p>
        </p:txBody>
      </p:sp>
      <p:pic>
        <p:nvPicPr>
          <p:cNvPr id="5" name="内容占位符 4"/>
          <p:cNvPicPr>
            <a:picLocks noChangeAspect="1"/>
          </p:cNvPicPr>
          <p:nvPr>
            <p:ph idx="1"/>
          </p:nvPr>
        </p:nvPicPr>
        <p:blipFill>
          <a:blip r:embed="rId1"/>
          <a:stretch>
            <a:fillRect/>
          </a:stretch>
        </p:blipFill>
        <p:spPr>
          <a:xfrm>
            <a:off x="1855470" y="2175510"/>
            <a:ext cx="8481060" cy="3572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pPr marL="0" indent="0">
              <a:lnSpc>
                <a:spcPct val="120000"/>
              </a:lnSpc>
              <a:buFont typeface="Arial" panose="020B0604020202020204" pitchFamily="34" charset="0"/>
            </a:pPr>
            <a:r>
              <a:rPr lang="en-US" altLang="zh-CN" sz="3100"/>
              <a:t>Gestalt Principle in Visual Perception</a:t>
            </a:r>
            <a:br>
              <a:rPr lang="en-US" altLang="zh-CN"/>
            </a:br>
            <a:r>
              <a:rPr lang="en-US" altLang="zh-CN" b="1" i="1"/>
              <a:t>Similarity</a:t>
            </a:r>
            <a:endParaRPr lang="en-US" altLang="zh-CN" b="1" i="1"/>
          </a:p>
        </p:txBody>
      </p:sp>
      <p:pic>
        <p:nvPicPr>
          <p:cNvPr id="5" name="内容占位符 4"/>
          <p:cNvPicPr>
            <a:picLocks noChangeAspect="1"/>
          </p:cNvPicPr>
          <p:nvPr>
            <p:ph idx="1"/>
          </p:nvPr>
        </p:nvPicPr>
        <p:blipFill>
          <a:blip r:embed="rId1"/>
          <a:stretch>
            <a:fillRect/>
          </a:stretch>
        </p:blipFill>
        <p:spPr>
          <a:xfrm>
            <a:off x="3982720" y="1857375"/>
            <a:ext cx="4225925" cy="4225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pPr marL="0" indent="0">
              <a:lnSpc>
                <a:spcPct val="120000"/>
              </a:lnSpc>
              <a:buFont typeface="Arial" panose="020B0604020202020204" pitchFamily="34" charset="0"/>
            </a:pPr>
            <a:r>
              <a:rPr lang="en-US" altLang="zh-CN" sz="3100"/>
              <a:t>Gestalt Principle in Visual Perception</a:t>
            </a:r>
            <a:br>
              <a:rPr lang="en-US" altLang="zh-CN"/>
            </a:br>
            <a:r>
              <a:rPr lang="en-US" altLang="zh-CN" b="1" i="1"/>
              <a:t>Closure</a:t>
            </a:r>
            <a:endParaRPr lang="en-US" altLang="zh-CN" b="1" i="1"/>
          </a:p>
        </p:txBody>
      </p:sp>
      <p:pic>
        <p:nvPicPr>
          <p:cNvPr id="4" name="内容占位符 3"/>
          <p:cNvPicPr>
            <a:picLocks noChangeAspect="1"/>
          </p:cNvPicPr>
          <p:nvPr>
            <p:ph idx="1"/>
          </p:nvPr>
        </p:nvPicPr>
        <p:blipFill>
          <a:blip r:embed="rId1"/>
          <a:stretch>
            <a:fillRect/>
          </a:stretch>
        </p:blipFill>
        <p:spPr>
          <a:xfrm>
            <a:off x="2892425" y="2266950"/>
            <a:ext cx="6407150" cy="3495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pPr marL="0" indent="0">
              <a:lnSpc>
                <a:spcPct val="120000"/>
              </a:lnSpc>
              <a:buFont typeface="Arial" panose="020B0604020202020204" pitchFamily="34" charset="0"/>
            </a:pPr>
            <a:r>
              <a:rPr lang="en-US" altLang="zh-CN" sz="3100"/>
              <a:t>Gestalt Principle in Visual Perception</a:t>
            </a:r>
            <a:br>
              <a:rPr lang="en-US" altLang="zh-CN"/>
            </a:br>
            <a:r>
              <a:rPr lang="en-US" altLang="zh-CN" b="1" i="1"/>
              <a:t>Good Continuation</a:t>
            </a:r>
            <a:endParaRPr lang="en-US" altLang="zh-CN" b="1" i="1"/>
          </a:p>
        </p:txBody>
      </p:sp>
      <p:pic>
        <p:nvPicPr>
          <p:cNvPr id="5" name="内容占位符 4"/>
          <p:cNvPicPr>
            <a:picLocks noChangeAspect="1"/>
          </p:cNvPicPr>
          <p:nvPr>
            <p:ph idx="1"/>
          </p:nvPr>
        </p:nvPicPr>
        <p:blipFill>
          <a:blip r:embed="rId1"/>
          <a:stretch>
            <a:fillRect/>
          </a:stretch>
        </p:blipFill>
        <p:spPr>
          <a:xfrm>
            <a:off x="1377315" y="2538730"/>
            <a:ext cx="3143250" cy="2924175"/>
          </a:xfrm>
          <a:prstGeom prst="rect">
            <a:avLst/>
          </a:prstGeom>
        </p:spPr>
      </p:pic>
      <p:pic>
        <p:nvPicPr>
          <p:cNvPr id="6" name="图片 5"/>
          <p:cNvPicPr>
            <a:picLocks noChangeAspect="1"/>
          </p:cNvPicPr>
          <p:nvPr/>
        </p:nvPicPr>
        <p:blipFill>
          <a:blip r:embed="rId2"/>
          <a:srcRect l="17154" t="51687" r="15377" b="23287"/>
          <a:stretch>
            <a:fillRect/>
          </a:stretch>
        </p:blipFill>
        <p:spPr>
          <a:xfrm>
            <a:off x="5368290" y="2439670"/>
            <a:ext cx="5765165" cy="30232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pPr marL="0" indent="0">
              <a:lnSpc>
                <a:spcPct val="120000"/>
              </a:lnSpc>
              <a:buFont typeface="Arial" panose="020B0604020202020204" pitchFamily="34" charset="0"/>
            </a:pPr>
            <a:r>
              <a:rPr lang="en-US" altLang="zh-CN" sz="3100"/>
              <a:t>Gestalt Principle in Visual Perception</a:t>
            </a:r>
            <a:br>
              <a:rPr lang="en-US" altLang="zh-CN"/>
            </a:br>
            <a:r>
              <a:rPr lang="en-US" altLang="zh-CN" b="1" i="1"/>
              <a:t>Simplicity</a:t>
            </a:r>
            <a:endParaRPr lang="en-US" altLang="zh-CN" b="1" i="1"/>
          </a:p>
        </p:txBody>
      </p:sp>
      <p:pic>
        <p:nvPicPr>
          <p:cNvPr id="4" name="图片 3"/>
          <p:cNvPicPr/>
          <p:nvPr/>
        </p:nvPicPr>
        <p:blipFill>
          <a:blip r:embed="rId1"/>
          <a:srcRect t="24796" b="27574"/>
          <a:stretch>
            <a:fillRect/>
          </a:stretch>
        </p:blipFill>
        <p:spPr>
          <a:xfrm>
            <a:off x="0" y="2560955"/>
            <a:ext cx="12192000" cy="3266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pPr marL="0" indent="0">
              <a:lnSpc>
                <a:spcPct val="120000"/>
              </a:lnSpc>
              <a:buFont typeface="Arial" panose="020B0604020202020204" pitchFamily="34" charset="0"/>
            </a:pPr>
            <a:r>
              <a:rPr lang="en-US" altLang="zh-CN" sz="3100"/>
              <a:t>Gestalt Principle in Visual Perception</a:t>
            </a:r>
            <a:br>
              <a:rPr lang="en-US" altLang="zh-CN"/>
            </a:br>
            <a:r>
              <a:rPr lang="en-US" altLang="zh-CN" b="1" i="1"/>
              <a:t>Common Fate</a:t>
            </a:r>
            <a:endParaRPr lang="en-US" altLang="zh-CN" b="1" i="1"/>
          </a:p>
        </p:txBody>
      </p:sp>
      <p:pic>
        <p:nvPicPr>
          <p:cNvPr id="9" name="内容占位符 8"/>
          <p:cNvPicPr>
            <a:picLocks noChangeAspect="1"/>
          </p:cNvPicPr>
          <p:nvPr>
            <p:ph idx="1"/>
          </p:nvPr>
        </p:nvPicPr>
        <p:blipFill>
          <a:blip r:embed="rId1"/>
          <a:srcRect t="44798" b="31110"/>
          <a:stretch>
            <a:fillRect/>
          </a:stretch>
        </p:blipFill>
        <p:spPr>
          <a:xfrm>
            <a:off x="1480185" y="2470785"/>
            <a:ext cx="9231630" cy="31451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pPr marL="0" indent="0">
              <a:lnSpc>
                <a:spcPct val="120000"/>
              </a:lnSpc>
              <a:buFont typeface="Arial" panose="020B0604020202020204" pitchFamily="34" charset="0"/>
            </a:pPr>
            <a:r>
              <a:rPr lang="en-US" altLang="zh-CN" sz="3100"/>
              <a:t>Gestalt Principle in Visual Perception</a:t>
            </a:r>
            <a:br>
              <a:rPr lang="en-US" altLang="zh-CN"/>
            </a:br>
            <a:r>
              <a:rPr lang="en-US" altLang="zh-CN" b="1" i="1"/>
              <a:t>Rhythmic Law</a:t>
            </a:r>
            <a:endParaRPr lang="en-US" altLang="zh-CN" b="1" i="1"/>
          </a:p>
        </p:txBody>
      </p:sp>
      <p:pic>
        <p:nvPicPr>
          <p:cNvPr id="4" name="内容占位符 3"/>
          <p:cNvPicPr>
            <a:picLocks noChangeAspect="1"/>
          </p:cNvPicPr>
          <p:nvPr>
            <p:ph idx="1"/>
          </p:nvPr>
        </p:nvPicPr>
        <p:blipFill>
          <a:blip r:embed="rId1"/>
          <a:srcRect t="47118" b="30191"/>
          <a:stretch>
            <a:fillRect/>
          </a:stretch>
        </p:blipFill>
        <p:spPr>
          <a:xfrm>
            <a:off x="1346835" y="2487295"/>
            <a:ext cx="9498330" cy="304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sz="2800">
                <a:sym typeface="+mn-ea"/>
              </a:rPr>
              <a:t>Gestalt Principle in </a:t>
            </a:r>
            <a:r>
              <a:rPr lang="en-US" altLang="zh-CN" sz="2800">
                <a:sym typeface="+mn-ea"/>
              </a:rPr>
              <a:t>Auditory Perception</a:t>
            </a:r>
            <a:br>
              <a:rPr lang="en-US" altLang="zh-CN">
                <a:sym typeface="+mn-ea"/>
              </a:rPr>
            </a:br>
            <a:r>
              <a:rPr lang="en-US" altLang="zh-CN" b="1" i="1">
                <a:sym typeface="+mn-ea"/>
              </a:rPr>
              <a:t>Factors Affecting Auditory Streaming</a:t>
            </a:r>
            <a:endParaRPr lang="en-US" altLang="zh-CN" b="1" i="1">
              <a:sym typeface="+mn-ea"/>
            </a:endParaRPr>
          </a:p>
        </p:txBody>
      </p:sp>
      <p:sp>
        <p:nvSpPr>
          <p:cNvPr id="3" name="内容占位符 2"/>
          <p:cNvSpPr>
            <a:spLocks noGrp="1"/>
          </p:cNvSpPr>
          <p:nvPr>
            <p:ph idx="1"/>
          </p:nvPr>
        </p:nvSpPr>
        <p:spPr/>
        <p:txBody>
          <a:bodyPr/>
          <a:p>
            <a:r>
              <a:rPr lang="zh-CN" altLang="en-US" sz="3200" b="1" i="1"/>
              <a:t>Frequency</a:t>
            </a:r>
            <a:r>
              <a:rPr lang="zh-CN" altLang="en-US" sz="3200"/>
              <a:t> (also pitch)</a:t>
            </a:r>
            <a:endParaRPr lang="zh-CN" altLang="en-US" sz="3200"/>
          </a:p>
          <a:p>
            <a:r>
              <a:rPr lang="zh-CN" altLang="en-US" sz="3200" b="1" i="1"/>
              <a:t>Timbre</a:t>
            </a:r>
            <a:r>
              <a:rPr lang="en-US" altLang="zh-CN" sz="3200" b="1" i="1"/>
              <a:t>: </a:t>
            </a:r>
            <a:r>
              <a:rPr lang="en-US" altLang="zh-CN"/>
              <a:t>Analogy to color in vision</a:t>
            </a:r>
            <a:endParaRPr lang="en-US" altLang="zh-CN" sz="3200" b="1" i="1"/>
          </a:p>
          <a:p>
            <a:r>
              <a:rPr lang="zh-CN" altLang="en-US" sz="3200" b="1" i="1"/>
              <a:t>Amplitude</a:t>
            </a:r>
            <a:endParaRPr lang="zh-CN" altLang="en-US" sz="3200" b="1" i="1"/>
          </a:p>
          <a:p>
            <a:pPr>
              <a:buFont typeface="Wingdings" panose="05000000000000000000" charset="0"/>
              <a:buChar char="Ø"/>
            </a:pPr>
            <a:r>
              <a:rPr lang="en-US" altLang="zh-CN" sz="2400" b="1" i="1">
                <a:sym typeface="+mn-ea"/>
              </a:rPr>
              <a:t>O</a:t>
            </a:r>
            <a:r>
              <a:rPr lang="zh-CN" altLang="en-US" sz="2400" b="1" i="1">
                <a:sym typeface="+mn-ea"/>
              </a:rPr>
              <a:t>nsets and offsets</a:t>
            </a:r>
            <a:r>
              <a:rPr lang="zh-CN" altLang="en-US" sz="2400">
                <a:sym typeface="+mn-ea"/>
              </a:rPr>
              <a:t>: Sudden changes in the intensity of the time signal</a:t>
            </a:r>
            <a:endParaRPr lang="zh-CN" altLang="en-US" sz="2400"/>
          </a:p>
          <a:p>
            <a:r>
              <a:rPr lang="zh-CN" altLang="en-US" sz="3200" b="1" i="1"/>
              <a:t>Spatial cues</a:t>
            </a:r>
            <a:r>
              <a:rPr lang="en-US" altLang="zh-CN" sz="3200"/>
              <a:t>:</a:t>
            </a:r>
            <a:endParaRPr lang="zh-CN" altLang="en-US" sz="3200"/>
          </a:p>
          <a:p>
            <a:pPr>
              <a:buFont typeface="Wingdings" panose="05000000000000000000" charset="0"/>
              <a:buChar char="Ø"/>
            </a:pPr>
            <a:r>
              <a:rPr lang="zh-CN" altLang="en-US" sz="2400"/>
              <a:t>Interaural level differences (ILDs)</a:t>
            </a:r>
            <a:endParaRPr lang="zh-CN" altLang="en-US" sz="2400"/>
          </a:p>
          <a:p>
            <a:pPr>
              <a:buFont typeface="Wingdings" panose="05000000000000000000" charset="0"/>
              <a:buChar char="Ø"/>
            </a:pPr>
            <a:r>
              <a:rPr lang="zh-CN" altLang="en-US" sz="2400"/>
              <a:t>Interaural time differences (ITDs)</a:t>
            </a:r>
            <a:endParaRPr lang="zh-CN" altLang="en-US" sz="2400"/>
          </a:p>
          <a:p>
            <a:pPr>
              <a:buFont typeface="Wingdings" panose="05000000000000000000" charset="0"/>
              <a:buChar char="u"/>
            </a:pPr>
            <a:r>
              <a:rPr lang="zh-CN" altLang="en-US" b="1" i="1">
                <a:sym typeface="+mn-ea"/>
              </a:rPr>
              <a:t>Temporal modulation</a:t>
            </a:r>
            <a:r>
              <a:rPr lang="zh-CN" altLang="en-US">
                <a:sym typeface="+mn-ea"/>
              </a:rPr>
              <a:t>: Similar frequencies or rhythmic patterns</a:t>
            </a:r>
            <a:endParaRPr lang="zh-CN" altLang="en-US">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sz="2800">
                <a:sym typeface="+mn-ea"/>
              </a:rPr>
              <a:t>Gestalt Principle in </a:t>
            </a:r>
            <a:r>
              <a:rPr lang="en-US" altLang="zh-CN" sz="2800">
                <a:sym typeface="+mn-ea"/>
              </a:rPr>
              <a:t>Auditory Perception</a:t>
            </a:r>
            <a:br>
              <a:rPr lang="en-US" altLang="zh-CN">
                <a:sym typeface="+mn-ea"/>
              </a:rPr>
            </a:br>
            <a:r>
              <a:rPr lang="en-US" altLang="zh-CN" b="1" i="1">
                <a:sym typeface="+mn-ea"/>
              </a:rPr>
              <a:t>Examples</a:t>
            </a:r>
            <a:endParaRPr lang="en-US" altLang="zh-CN" b="1" i="1">
              <a:sym typeface="+mn-ea"/>
            </a:endParaRPr>
          </a:p>
        </p:txBody>
      </p:sp>
      <p:sp>
        <p:nvSpPr>
          <p:cNvPr id="3" name="内容占位符 2"/>
          <p:cNvSpPr>
            <a:spLocks noGrp="1"/>
          </p:cNvSpPr>
          <p:nvPr>
            <p:ph idx="1"/>
          </p:nvPr>
        </p:nvSpPr>
        <p:spPr/>
        <p:txBody>
          <a:bodyPr>
            <a:normAutofit/>
          </a:bodyPr>
          <a:p>
            <a:r>
              <a:rPr lang="en-US" b="1" i="1"/>
              <a:t>Similarity in Pitch Range</a:t>
            </a:r>
            <a:endParaRPr lang="en-US" sz="2200"/>
          </a:p>
        </p:txBody>
      </p:sp>
      <p:pic>
        <p:nvPicPr>
          <p:cNvPr id="4" name="图片 3" descr="微信截图_20241015080414"/>
          <p:cNvPicPr>
            <a:picLocks noChangeAspect="1"/>
          </p:cNvPicPr>
          <p:nvPr/>
        </p:nvPicPr>
        <p:blipFill>
          <a:blip r:embed="rId1"/>
          <a:srcRect l="14119" r="15615" b="37394"/>
          <a:stretch>
            <a:fillRect/>
          </a:stretch>
        </p:blipFill>
        <p:spPr>
          <a:xfrm>
            <a:off x="838200" y="2833370"/>
            <a:ext cx="4451985" cy="3041650"/>
          </a:xfrm>
          <a:prstGeom prst="rect">
            <a:avLst/>
          </a:prstGeom>
        </p:spPr>
      </p:pic>
      <p:sp>
        <p:nvSpPr>
          <p:cNvPr id="6" name="内容占位符 2"/>
          <p:cNvSpPr>
            <a:spLocks noGrp="1"/>
          </p:cNvSpPr>
          <p:nvPr/>
        </p:nvSpPr>
        <p:spPr>
          <a:xfrm>
            <a:off x="6095365" y="1825625"/>
            <a:ext cx="538543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i="1"/>
              <a:t>Good Continuation</a:t>
            </a:r>
            <a:endParaRPr lang="en-US" sz="2200"/>
          </a:p>
        </p:txBody>
      </p:sp>
      <p:pic>
        <p:nvPicPr>
          <p:cNvPr id="8" name="内容占位符 3" descr="微信截图_20241015074807"/>
          <p:cNvPicPr>
            <a:picLocks noChangeAspect="1"/>
          </p:cNvPicPr>
          <p:nvPr/>
        </p:nvPicPr>
        <p:blipFill>
          <a:blip r:embed="rId2"/>
          <a:srcRect r="34127" b="29084"/>
          <a:stretch>
            <a:fillRect/>
          </a:stretch>
        </p:blipFill>
        <p:spPr>
          <a:xfrm>
            <a:off x="6249035" y="3111500"/>
            <a:ext cx="5530850" cy="24860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The Gestalt Computational Model in Auditory Perception</a:t>
            </a:r>
            <a:br>
              <a:rPr lang="en-US" altLang="zh-CN" sz="3200"/>
            </a:br>
            <a:r>
              <a:rPr lang="en-US" altLang="zh-CN" sz="4000" b="1" i="1"/>
              <a:t>Research Plan</a:t>
            </a:r>
            <a:endParaRPr lang="en-US" altLang="zh-CN" sz="4000" b="1" i="1"/>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p>
                <a:r>
                  <a:rPr lang="en-US" altLang="zh-CN" b="1" i="1"/>
                  <a:t>Step1. </a:t>
                </a:r>
                <a:r>
                  <a:rPr lang="en-US" altLang="zh-CN"/>
                  <a:t>Extract </a:t>
                </a:r>
                <a14:m>
                  <m:oMath xmlns:m="http://schemas.openxmlformats.org/officeDocument/2006/math">
                    <m:r>
                      <m:rPr>
                        <m:sty m:val="p"/>
                      </m:rPr>
                      <a:rPr lang="en-US" altLang="zh-CN">
                        <a:latin typeface="Cambria Math" panose="02040503050406030204" charset="0"/>
                        <a:cs typeface="Cambria Math" panose="02040503050406030204" charset="0"/>
                      </a:rPr>
                      <m:t>n</m:t>
                    </m:r>
                  </m:oMath>
                </a14:m>
                <a:r>
                  <a:rPr lang="en-US" altLang="zh-CN"/>
                  <a:t> features related to the auditory stream formation and perform time-delay embedding on each, embedding them into an </a:t>
                </a:r>
                <a14:m>
                  <m:oMath xmlns:m="http://schemas.openxmlformats.org/officeDocument/2006/math">
                    <m:r>
                      <m:rPr>
                        <m:sty m:val="p"/>
                      </m:rPr>
                      <a:rPr lang="en-US" altLang="zh-CN">
                        <a:latin typeface="Cambria Math" panose="02040503050406030204" charset="0"/>
                        <a:cs typeface="Cambria Math" panose="02040503050406030204" charset="0"/>
                      </a:rPr>
                      <m:t>m</m:t>
                    </m:r>
                  </m:oMath>
                </a14:m>
                <a:r>
                  <a:rPr lang="en-US" altLang="zh-CN"/>
                  <a:t>-dimensional space. These embeddings will then be combined to form a </a:t>
                </a:r>
                <a14:m>
                  <m:oMath xmlns:m="http://schemas.openxmlformats.org/officeDocument/2006/math">
                    <m:r>
                      <m:rPr>
                        <m:sty m:val="p"/>
                      </m:rPr>
                      <a:rPr lang="en-US" altLang="zh-CN">
                        <a:latin typeface="Cambria Math" panose="02040503050406030204" charset="0"/>
                        <a:cs typeface="Cambria Math" panose="02040503050406030204" charset="0"/>
                      </a:rPr>
                      <m:t>nm</m:t>
                    </m:r>
                  </m:oMath>
                </a14:m>
                <a:r>
                  <a:rPr lang="en-US" altLang="zh-CN"/>
                  <a:t>-dimension space.</a:t>
                </a:r>
                <a:endParaRPr lang="en-US" altLang="zh-CN"/>
              </a:p>
              <a:p>
                <a:r>
                  <a:rPr lang="en-US" altLang="zh-CN" b="1" i="1"/>
                  <a:t>Step2.</a:t>
                </a:r>
                <a:r>
                  <a:rPr lang="en-US" altLang="zh-CN"/>
                  <a:t> Compute the persistence diagram (PD) in this </a:t>
                </a:r>
                <a14:m>
                  <m:oMath xmlns:m="http://schemas.openxmlformats.org/officeDocument/2006/math">
                    <m:r>
                      <m:rPr>
                        <m:sty m:val="p"/>
                      </m:rPr>
                      <a:rPr lang="en-US" altLang="zh-CN">
                        <a:latin typeface="Cambria Math" panose="02040503050406030204" charset="0"/>
                        <a:cs typeface="Cambria Math" panose="02040503050406030204" charset="0"/>
                      </a:rPr>
                      <m:t>nm</m:t>
                    </m:r>
                  </m:oMath>
                </a14:m>
                <a:r>
                  <a:rPr lang="en-US" altLang="zh-CN"/>
                  <a:t>-dimensional space.</a:t>
                </a:r>
                <a:endParaRPr lang="en-US" altLang="zh-CN"/>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pic>
        <p:nvPicPr>
          <p:cNvPr id="5" name="内容占位符 3" descr="cochleagrams and ibm"/>
          <p:cNvPicPr>
            <a:picLocks noChangeAspect="1"/>
          </p:cNvPicPr>
          <p:nvPr/>
        </p:nvPicPr>
        <p:blipFill>
          <a:blip r:embed="rId2"/>
          <a:srcRect l="2871" t="1325" r="2051" b="35931"/>
          <a:stretch>
            <a:fillRect/>
          </a:stretch>
        </p:blipFill>
        <p:spPr>
          <a:xfrm>
            <a:off x="838200" y="4426585"/>
            <a:ext cx="4263390" cy="2277110"/>
          </a:xfrm>
          <a:prstGeom prst="rect">
            <a:avLst/>
          </a:prstGeom>
        </p:spPr>
      </p:pic>
      <p:sp>
        <p:nvSpPr>
          <p:cNvPr id="4" name="圆角矩形 3"/>
          <p:cNvSpPr/>
          <p:nvPr/>
        </p:nvSpPr>
        <p:spPr>
          <a:xfrm>
            <a:off x="5576570" y="4213225"/>
            <a:ext cx="5679440" cy="238188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285750" indent="-285750" algn="l">
              <a:buFont typeface="Arial" panose="020B0604020202020204" pitchFamily="34" charset="0"/>
              <a:buChar char="•"/>
            </a:pPr>
            <a:r>
              <a:rPr lang="en-US" altLang="zh-CN" sz="2000"/>
              <a:t>Maybe by MFCC?</a:t>
            </a:r>
            <a:endParaRPr lang="en-US" altLang="zh-CN" sz="2000"/>
          </a:p>
          <a:p>
            <a:pPr marL="285750" indent="-285750" algn="l">
              <a:buFont typeface="Arial" panose="020B0604020202020204" pitchFamily="34" charset="0"/>
              <a:buChar char="•"/>
            </a:pPr>
            <a:r>
              <a:rPr lang="en-US" altLang="zh-CN" sz="2000"/>
              <a:t>Consider more ways to solve longer sequences…(maybe not by TDE)</a:t>
            </a:r>
            <a:endParaRPr lang="en-US" altLang="zh-CN" sz="2000"/>
          </a:p>
          <a:p>
            <a:pPr marL="342900" indent="-342900" algn="l">
              <a:buFont typeface="Wingdings" panose="05000000000000000000" charset="0"/>
              <a:buChar char="Ø"/>
            </a:pPr>
            <a:r>
              <a:rPr lang="en-US" altLang="zh-CN" sz="2000"/>
              <a:t>An idea: Maybe we can cut the long sequences into small sequences with gaps (like 50%)? Then apply TDE on the small sequence.</a:t>
            </a:r>
            <a:endParaRPr lang="en-US" altLang="zh-CN"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562735"/>
            <a:ext cx="10515600" cy="4351338"/>
          </a:xfrm>
        </p:spPr>
        <p:txBody>
          <a:bodyPr/>
          <a:p>
            <a:r>
              <a:rPr lang="en-US" altLang="zh-CN" b="1" i="1"/>
              <a:t>Step3.</a:t>
            </a:r>
            <a:r>
              <a:rPr lang="en-US" altLang="zh-CN"/>
              <a:t> T</a:t>
            </a:r>
            <a:r>
              <a:rPr lang="zh-CN" altLang="en-US"/>
              <a:t>he points in the PD are projected onto the line y = −x, and the projected points are clustered</a:t>
            </a:r>
            <a:r>
              <a:rPr lang="en-US" altLang="zh-CN"/>
              <a:t> </a:t>
            </a:r>
            <a:r>
              <a:rPr lang="zh-CN" altLang="en-US"/>
              <a:t>into two groups using a clustering method, such as the k-means algorithm (with k = 2).</a:t>
            </a:r>
            <a:endParaRPr lang="zh-CN" altLang="en-US"/>
          </a:p>
          <a:p>
            <a:r>
              <a:rPr lang="zh-CN" altLang="en-US"/>
              <a:t>The</a:t>
            </a:r>
            <a:r>
              <a:rPr lang="en-US" altLang="zh-CN"/>
              <a:t> </a:t>
            </a:r>
            <a:r>
              <a:rPr lang="zh-CN" altLang="en-US"/>
              <a:t>group closer to the origin (0, 0) represents </a:t>
            </a:r>
            <a:r>
              <a:rPr lang="zh-CN" altLang="en-US" u="sng"/>
              <a:t>noise points</a:t>
            </a:r>
            <a:r>
              <a:rPr lang="zh-CN" altLang="en-US"/>
              <a:t>, referred to as the </a:t>
            </a:r>
            <a:r>
              <a:rPr lang="en-US" altLang="zh-CN"/>
              <a:t>“</a:t>
            </a:r>
            <a:r>
              <a:rPr lang="zh-CN" altLang="en-US" b="1"/>
              <a:t>noise class</a:t>
            </a:r>
            <a:r>
              <a:rPr lang="en-US" altLang="zh-CN"/>
              <a:t>”</a:t>
            </a:r>
            <a:r>
              <a:rPr lang="zh-CN" altLang="en-US"/>
              <a:t>, while the</a:t>
            </a:r>
            <a:r>
              <a:rPr lang="en-US" altLang="zh-CN"/>
              <a:t> </a:t>
            </a:r>
            <a:r>
              <a:rPr lang="zh-CN" altLang="en-US"/>
              <a:t>group farther from the origin represents </a:t>
            </a:r>
            <a:r>
              <a:rPr lang="zh-CN" altLang="en-US" u="sng"/>
              <a:t>significant points with greater persistence</a:t>
            </a:r>
            <a:r>
              <a:rPr lang="zh-CN" altLang="en-US"/>
              <a:t>, referred to as</a:t>
            </a:r>
            <a:r>
              <a:rPr lang="en-US" altLang="zh-CN"/>
              <a:t> </a:t>
            </a:r>
            <a:r>
              <a:rPr lang="zh-CN" altLang="en-US"/>
              <a:t>the </a:t>
            </a:r>
            <a:r>
              <a:rPr lang="en-US" altLang="zh-CN"/>
              <a:t>“</a:t>
            </a:r>
            <a:r>
              <a:rPr lang="zh-CN" altLang="en-US" b="1"/>
              <a:t>significant class</a:t>
            </a:r>
            <a:r>
              <a:rPr lang="en-US" altLang="zh-CN"/>
              <a:t>”.</a:t>
            </a:r>
            <a:endParaRPr lang="en-US" altLang="zh-CN"/>
          </a:p>
        </p:txBody>
      </p:sp>
      <p:sp>
        <p:nvSpPr>
          <p:cNvPr id="4" name="标题 1"/>
          <p:cNvSpPr>
            <a:spLocks noGrp="1"/>
          </p:cNvSpPr>
          <p:nvPr/>
        </p:nvSpPr>
        <p:spPr>
          <a:xfrm>
            <a:off x="838200" y="23685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t>The Gestalt Computational Model in Auditory Perception</a:t>
            </a:r>
            <a:br>
              <a:rPr lang="en-US" altLang="zh-CN" sz="3200"/>
            </a:br>
            <a:r>
              <a:rPr lang="en-US" altLang="zh-CN" sz="4000" b="1" i="1"/>
              <a:t>Research Plan</a:t>
            </a:r>
            <a:endParaRPr lang="en-US" altLang="zh-CN" sz="4000" b="1" i="1"/>
          </a:p>
        </p:txBody>
      </p:sp>
      <p:pic>
        <p:nvPicPr>
          <p:cNvPr id="5" name="图片 4"/>
          <p:cNvPicPr>
            <a:picLocks noChangeAspect="1"/>
          </p:cNvPicPr>
          <p:nvPr/>
        </p:nvPicPr>
        <p:blipFill>
          <a:blip r:embed="rId1"/>
          <a:stretch>
            <a:fillRect/>
          </a:stretch>
        </p:blipFill>
        <p:spPr>
          <a:xfrm>
            <a:off x="3128010" y="4539615"/>
            <a:ext cx="5935980" cy="21412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277620"/>
                <a:ext cx="10515600" cy="4271010"/>
              </a:xfrm>
            </p:spPr>
            <p:txBody>
              <a:bodyPr>
                <a:normAutofit fontScale="90000"/>
              </a:bodyPr>
              <a:p>
                <a:r>
                  <a:rPr lang="en-US" altLang="zh-CN" b="1" i="1"/>
                  <a:t>Step4.</a:t>
                </a:r>
                <a:r>
                  <a:rPr lang="en-US" altLang="zh-CN"/>
                  <a:t> A</a:t>
                </a:r>
                <a:r>
                  <a:rPr lang="zh-CN" altLang="en-US"/>
                  <a:t> suitable threshold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𝜀</m:t>
                        </m:r>
                      </m:e>
                      <m:sub>
                        <m:r>
                          <a:rPr lang="en-US" altLang="zh-CN" i="1">
                            <a:latin typeface="Cambria Math" panose="02040503050406030204" charset="0"/>
                            <a:cs typeface="Cambria Math" panose="02040503050406030204" charset="0"/>
                          </a:rPr>
                          <m:t>𝑔</m:t>
                        </m:r>
                      </m:sub>
                    </m:sSub>
                  </m:oMath>
                </a14:m>
                <a:r>
                  <a:rPr lang="zh-CN" altLang="en-US"/>
                  <a:t> is determined.</a:t>
                </a:r>
                <a:endParaRPr lang="zh-CN" altLang="en-US"/>
              </a:p>
              <a:p>
                <a:r>
                  <a:rPr lang="zh-CN" altLang="en-US"/>
                  <a:t>For 0-PD,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𝜀</m:t>
                        </m:r>
                      </m:e>
                      <m:sub>
                        <m:r>
                          <a:rPr lang="en-US" altLang="zh-CN" i="1">
                            <a:latin typeface="Cambria Math" panose="02040503050406030204" charset="0"/>
                            <a:cs typeface="Cambria Math" panose="02040503050406030204" charset="0"/>
                          </a:rPr>
                          <m:t>𝑔</m:t>
                        </m:r>
                      </m:sub>
                    </m:sSub>
                  </m:oMath>
                </a14:m>
                <a:r>
                  <a:rPr lang="zh-CN" altLang="en-US"/>
                  <a:t> should be larger than the greatest death time</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𝑡</m:t>
                        </m:r>
                      </m:e>
                      <m:sub>
                        <m:r>
                          <a:rPr lang="en-US" altLang="zh-CN" i="1">
                            <a:latin typeface="Cambria Math" panose="02040503050406030204" charset="0"/>
                            <a:cs typeface="Cambria Math" panose="02040503050406030204" charset="0"/>
                          </a:rPr>
                          <m:t>𝑑</m:t>
                        </m:r>
                      </m:sub>
                    </m:sSub>
                  </m:oMath>
                </a14:m>
                <a:r>
                  <a:rPr lang="zh-CN" altLang="en-US"/>
                  <a:t> of the noise points and smaller than the smallest death time of the significant points.</a:t>
                </a:r>
                <a:endParaRPr lang="zh-CN" altLang="en-US"/>
              </a:p>
              <a:p>
                <a:r>
                  <a:rPr lang="zh-CN" altLang="en-US"/>
                  <a:t>For 1-PD,</a:t>
                </a:r>
                <a:r>
                  <a:rPr lang="en-US" altLang="zh-CN"/>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𝜀</m:t>
                        </m:r>
                      </m:e>
                      <m:sub>
                        <m:r>
                          <a:rPr lang="en-US" altLang="zh-CN" i="1">
                            <a:latin typeface="Cambria Math" panose="02040503050406030204" charset="0"/>
                            <a:cs typeface="Cambria Math" panose="02040503050406030204" charset="0"/>
                          </a:rPr>
                          <m:t>𝑔</m:t>
                        </m:r>
                      </m:sub>
                    </m:sSub>
                  </m:oMath>
                </a14:m>
                <a:r>
                  <a:rPr lang="zh-CN" altLang="en-US"/>
                  <a:t> should be greater than the largest birth time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𝑡</m:t>
                        </m:r>
                      </m:e>
                      <m:sub>
                        <m:r>
                          <a:rPr lang="en-US" altLang="zh-CN" i="1">
                            <a:latin typeface="Cambria Math" panose="02040503050406030204" charset="0"/>
                            <a:cs typeface="Cambria Math" panose="02040503050406030204" charset="0"/>
                          </a:rPr>
                          <m:t>𝑏</m:t>
                        </m:r>
                      </m:sub>
                    </m:sSub>
                  </m:oMath>
                </a14:m>
                <a:r>
                  <a:rPr lang="zh-CN" altLang="en-US"/>
                  <a:t> of the significant points and smaller than the</a:t>
                </a:r>
                <a:r>
                  <a:rPr lang="en-US" altLang="zh-CN"/>
                  <a:t> </a:t>
                </a:r>
                <a:r>
                  <a:rPr lang="zh-CN" altLang="en-US"/>
                  <a:t>smallest death time of the significant points. At the Vietoris-Rips (VR) complex with parameter</a:t>
                </a:r>
                <a14:m>
                  <m:oMath xmlns:m="http://schemas.openxmlformats.org/officeDocument/2006/math">
                    <m:r>
                      <a:rPr lang="en-US" altLang="zh-CN">
                        <a:latin typeface="Cambria Math" panose="02040503050406030204" charset="0"/>
                      </a:rPr>
                      <m:t> </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𝜀</m:t>
                        </m:r>
                      </m:e>
                      <m:sub>
                        <m:r>
                          <a:rPr lang="en-US" altLang="zh-CN" i="1">
                            <a:latin typeface="Cambria Math" panose="02040503050406030204" charset="0"/>
                            <a:cs typeface="Cambria Math" panose="02040503050406030204" charset="0"/>
                          </a:rPr>
                          <m:t>𝑔</m:t>
                        </m:r>
                      </m:sub>
                    </m:sSub>
                  </m:oMath>
                </a14:m>
                <a:r>
                  <a:rPr lang="zh-CN" altLang="en-US"/>
                  <a:t> , i.e., VR(</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𝜀</m:t>
                        </m:r>
                      </m:e>
                      <m:sub>
                        <m:r>
                          <a:rPr lang="en-US" altLang="zh-CN" i="1">
                            <a:latin typeface="Cambria Math" panose="02040503050406030204" charset="0"/>
                            <a:cs typeface="Cambria Math" panose="02040503050406030204" charset="0"/>
                          </a:rPr>
                          <m:t>𝑔</m:t>
                        </m:r>
                      </m:sub>
                    </m:sSub>
                  </m:oMath>
                </a14:m>
                <a:r>
                  <a:rPr lang="zh-CN" altLang="en-US"/>
                  <a:t>), all significant topological features such as significant connected components or</a:t>
                </a:r>
                <a:r>
                  <a:rPr lang="en-US" altLang="zh-CN"/>
                  <a:t> </a:t>
                </a:r>
                <a:r>
                  <a:rPr lang="zh-CN" altLang="en-US"/>
                  <a:t>loops exist. By default, we set </a:t>
                </a:r>
                <a14:m>
                  <m:oMath xmlns:m="http://schemas.openxmlformats.org/officeDocument/2006/math">
                    <m:r>
                      <a:rPr lang="en-US" altLang="zh-CN" i="1">
                        <a:latin typeface="Cambria Math" panose="02040503050406030204" charset="0"/>
                        <a:cs typeface="Cambria Math" panose="02040503050406030204" charset="0"/>
                      </a:rPr>
                      <m:t>𝜀</m:t>
                    </m:r>
                  </m:oMath>
                </a14:m>
                <a:r>
                  <a:rPr lang="zh-CN" altLang="en-US"/>
                  <a:t> =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𝑡</m:t>
                        </m:r>
                      </m:e>
                      <m:sub>
                        <m:r>
                          <a:rPr lang="en-US" altLang="zh-CN" i="1">
                            <a:latin typeface="Cambria Math" panose="02040503050406030204" charset="0"/>
                            <a:cs typeface="Cambria Math" panose="02040503050406030204" charset="0"/>
                          </a:rPr>
                          <m:t>𝑑</m:t>
                        </m:r>
                      </m:sub>
                    </m:sSub>
                  </m:oMath>
                </a14:m>
                <a:r>
                  <a:rPr lang="zh-CN" altLang="en-US"/>
                  <a:t> for 0-PD or </a:t>
                </a:r>
                <a14:m>
                  <m:oMath xmlns:m="http://schemas.openxmlformats.org/officeDocument/2006/math">
                    <m:r>
                      <m:rPr>
                        <m:sty m:val="p"/>
                      </m:rPr>
                      <a:rPr lang="en-US" altLang="zh-CN">
                        <a:latin typeface="Cambria Math" panose="02040503050406030204" charset="0"/>
                        <a:cs typeface="Cambria Math" panose="02040503050406030204" charset="0"/>
                      </a:rPr>
                      <m:t>ε</m:t>
                    </m:r>
                  </m:oMath>
                </a14:m>
                <a:r>
                  <a:rPr lang="zh-CN" altLang="en-US"/>
                  <a:t> =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𝑡</m:t>
                        </m:r>
                      </m:e>
                      <m:sub>
                        <m:r>
                          <a:rPr lang="en-US" altLang="zh-CN" i="1">
                            <a:latin typeface="Cambria Math" panose="02040503050406030204" charset="0"/>
                            <a:cs typeface="Cambria Math" panose="02040503050406030204" charset="0"/>
                          </a:rPr>
                          <m:t>𝑏</m:t>
                        </m:r>
                      </m:sub>
                    </m:sSub>
                  </m:oMath>
                </a14:m>
                <a:r>
                  <a:rPr lang="zh-CN" altLang="en-US"/>
                  <a:t> for 1-PD.</a:t>
                </a:r>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277620"/>
                <a:ext cx="10515600" cy="4271010"/>
              </a:xfrm>
              <a:blipFill rotWithShape="1">
                <a:blip r:embed="rId1"/>
                <a:stretch>
                  <a:fillRect/>
                </a:stretch>
              </a:blipFill>
            </p:spPr>
            <p:txBody>
              <a:bodyPr/>
              <a:lstStyle/>
              <a:p>
                <a:r>
                  <a:rPr lang="zh-CN" altLang="en-US">
                    <a:noFill/>
                  </a:rPr>
                  <a:t> </a:t>
                </a:r>
              </a:p>
            </p:txBody>
          </p:sp>
        </mc:Fallback>
      </mc:AlternateContent>
      <p:sp>
        <p:nvSpPr>
          <p:cNvPr id="5" name="标题 1"/>
          <p:cNvSpPr>
            <a:spLocks noGrp="1"/>
          </p:cNvSpPr>
          <p:nvPr/>
        </p:nvSpPr>
        <p:spPr>
          <a:xfrm>
            <a:off x="838200" y="323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t>The Gestalt Computational Model in Auditory Perception</a:t>
            </a:r>
            <a:br>
              <a:rPr lang="en-US" altLang="zh-CN" sz="3200"/>
            </a:br>
            <a:r>
              <a:rPr lang="en-US" altLang="zh-CN" sz="4000" b="1" i="1"/>
              <a:t>Research Plan</a:t>
            </a:r>
            <a:endParaRPr lang="en-US" altLang="zh-CN" sz="4000" b="1" i="1"/>
          </a:p>
        </p:txBody>
      </p:sp>
      <p:pic>
        <p:nvPicPr>
          <p:cNvPr id="6" name="图片 5"/>
          <p:cNvPicPr>
            <a:picLocks noChangeAspect="1"/>
          </p:cNvPicPr>
          <p:nvPr/>
        </p:nvPicPr>
        <p:blipFill>
          <a:blip r:embed="rId2"/>
          <a:srcRect t="526" b="2281"/>
          <a:stretch>
            <a:fillRect/>
          </a:stretch>
        </p:blipFill>
        <p:spPr>
          <a:xfrm>
            <a:off x="6271895" y="4671695"/>
            <a:ext cx="5646420" cy="2110740"/>
          </a:xfrm>
          <a:prstGeom prst="rect">
            <a:avLst/>
          </a:prstGeom>
        </p:spPr>
      </p:pic>
      <p:pic>
        <p:nvPicPr>
          <p:cNvPr id="7" name="图片 6"/>
          <p:cNvPicPr>
            <a:picLocks noChangeAspect="1"/>
          </p:cNvPicPr>
          <p:nvPr/>
        </p:nvPicPr>
        <p:blipFill>
          <a:blip r:embed="rId3"/>
          <a:stretch>
            <a:fillRect/>
          </a:stretch>
        </p:blipFill>
        <p:spPr>
          <a:xfrm>
            <a:off x="192405" y="4671695"/>
            <a:ext cx="5935980" cy="21412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730375"/>
                <a:ext cx="5257800" cy="2661920"/>
              </a:xfrm>
            </p:spPr>
            <p:txBody>
              <a:bodyPr>
                <a:normAutofit/>
              </a:bodyPr>
              <a:p>
                <a:r>
                  <a:rPr lang="en-US" altLang="zh-CN" b="1" i="1"/>
                  <a:t>Step5.</a:t>
                </a:r>
                <a:r>
                  <a:rPr lang="en-US" altLang="zh-CN"/>
                  <a:t> T</a:t>
                </a:r>
                <a:r>
                  <a:t>he perceptual results are reconstructed from the VR complex with parameter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𝜀</m:t>
                        </m:r>
                      </m:e>
                      <m:sub>
                        <m:r>
                          <a:rPr lang="en-US" altLang="zh-CN" i="1">
                            <a:latin typeface="Cambria Math" panose="02040503050406030204" charset="0"/>
                            <a:cs typeface="Cambria Math" panose="02040503050406030204" charset="0"/>
                          </a:rPr>
                          <m:t>𝑔</m:t>
                        </m:r>
                      </m:sub>
                    </m:sSub>
                  </m:oMath>
                </a14:m>
                <a:r>
                  <a:t> , i.e., VR(</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𝜀</m:t>
                        </m:r>
                      </m:e>
                      <m:sub>
                        <m:r>
                          <a:rPr lang="en-US" altLang="zh-CN" i="1">
                            <a:latin typeface="Cambria Math" panose="02040503050406030204" charset="0"/>
                            <a:cs typeface="Cambria Math" panose="02040503050406030204" charset="0"/>
                          </a:rPr>
                          <m:t>𝑔</m:t>
                        </m:r>
                      </m:sub>
                    </m:sSub>
                  </m:oMath>
                </a14:m>
                <a:r>
                  <a:t>).</a:t>
                </a: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730375"/>
                <a:ext cx="5257800" cy="2661920"/>
              </a:xfrm>
              <a:blipFill rotWithShape="1">
                <a:blip r:embed="rId1"/>
                <a:stretch>
                  <a:fillRect/>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6198870" y="988695"/>
            <a:ext cx="5591810" cy="5417820"/>
          </a:xfrm>
          <a:prstGeom prst="rect">
            <a:avLst/>
          </a:prstGeom>
        </p:spPr>
      </p:pic>
      <p:sp>
        <p:nvSpPr>
          <p:cNvPr id="8" name="标题 7"/>
          <p:cNvSpPr>
            <a:spLocks noGrp="1"/>
          </p:cNvSpPr>
          <p:nvPr>
            <p:ph type="title"/>
          </p:nvPr>
        </p:nvSpPr>
        <p:spPr/>
        <p:txBody>
          <a:bodyPr/>
          <a:p>
            <a:r>
              <a:rPr lang="en-US" altLang="zh-CN" sz="2800"/>
              <a:t>The Gestalt Computational Model in Auditory Perception</a:t>
            </a:r>
            <a:br>
              <a:rPr lang="en-US" altLang="zh-CN" sz="3200"/>
            </a:br>
            <a:r>
              <a:rPr lang="en-US" altLang="zh-CN" sz="4000" b="1" i="1"/>
              <a:t>Research Plan</a:t>
            </a:r>
            <a:endParaRPr lang="en-US" altLang="zh-CN" sz="4000" b="1" i="1"/>
          </a:p>
        </p:txBody>
      </p:sp>
      <p:sp>
        <p:nvSpPr>
          <p:cNvPr id="5" name="圆角矩形 4"/>
          <p:cNvSpPr/>
          <p:nvPr/>
        </p:nvSpPr>
        <p:spPr>
          <a:xfrm>
            <a:off x="544830" y="3761740"/>
            <a:ext cx="5360670" cy="275844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sz="2000"/>
              <a:t>We use Persistent Homology to process the point cloud formed by the characteristics of the sound, and then group the point cloud through the VR complex obtained to determine the formation of the auditory stream.</a:t>
            </a:r>
            <a:endParaRPr sz="2000"/>
          </a:p>
          <a:p>
            <a:pPr algn="l"/>
            <a:r>
              <a:rPr lang="en-US" sz="2000"/>
              <a:t>(Maybe</a:t>
            </a:r>
            <a:r>
              <a:rPr sz="2000"/>
              <a:t> use some other knowledge for processing</a:t>
            </a:r>
            <a:r>
              <a:rPr lang="en-US" sz="2000"/>
              <a:t>?</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sz="3100">
                <a:sym typeface="+mn-ea"/>
              </a:rPr>
              <a:t>Restruction of the Gestalt Principle by VR Complex</a:t>
            </a:r>
            <a:br>
              <a:rPr lang="en-US" altLang="zh-CN" sz="4335" b="1" i="1"/>
            </a:br>
            <a:r>
              <a:rPr lang="en-US" altLang="zh-CN" sz="4335" b="1" i="1"/>
              <a:t>Point Cluster &amp; Threshold determination</a:t>
            </a:r>
            <a:endParaRPr lang="en-US" altLang="zh-CN" sz="4335" b="1" i="1"/>
          </a:p>
        </p:txBody>
      </p:sp>
      <p:sp>
        <p:nvSpPr>
          <p:cNvPr id="3" name="内容占位符 2"/>
          <p:cNvSpPr>
            <a:spLocks noGrp="1"/>
          </p:cNvSpPr>
          <p:nvPr>
            <p:ph idx="1"/>
          </p:nvPr>
        </p:nvSpPr>
        <p:spPr/>
        <p:txBody>
          <a:bodyPr/>
          <a:p>
            <a:pPr marL="0" indent="0">
              <a:buNone/>
            </a:pPr>
            <a:r>
              <a:rPr lang="en-US" altLang="zh-CN"/>
              <a:t>Project the points in a _____ onto the line y = −x, and cluster the projected points into </a:t>
            </a:r>
            <a:r>
              <a:rPr lang="en-US" altLang="zh-CN" b="1"/>
              <a:t>noise class</a:t>
            </a:r>
            <a:r>
              <a:rPr lang="en-US" altLang="zh-CN"/>
              <a:t> and </a:t>
            </a:r>
            <a:r>
              <a:rPr lang="en-US" altLang="zh-CN" b="1"/>
              <a:t>significant class.</a:t>
            </a:r>
            <a:endParaRPr lang="en-US" altLang="zh-CN"/>
          </a:p>
          <a:p>
            <a:pPr marL="0" indent="0">
              <a:buNone/>
            </a:pPr>
            <a:endParaRPr lang="en-US" altLang="zh-CN"/>
          </a:p>
        </p:txBody>
      </p:sp>
      <p:sp>
        <p:nvSpPr>
          <p:cNvPr id="4" name="文本框 3"/>
          <p:cNvSpPr txBox="1"/>
          <p:nvPr/>
        </p:nvSpPr>
        <p:spPr>
          <a:xfrm>
            <a:off x="0" y="0"/>
            <a:ext cx="4064000" cy="368300"/>
          </a:xfrm>
          <a:prstGeom prst="rect">
            <a:avLst/>
          </a:prstGeom>
          <a:noFill/>
        </p:spPr>
        <p:txBody>
          <a:bodyPr wrap="square" rtlCol="0">
            <a:spAutoFit/>
          </a:bodyPr>
          <a:p>
            <a:r>
              <a:rPr lang="en-US" altLang="zh-CN" b="1" i="1">
                <a:solidFill>
                  <a:srgbClr val="FF0000"/>
                </a:solidFill>
              </a:rPr>
              <a:t>New Page!</a:t>
            </a:r>
            <a:endParaRPr lang="en-US" altLang="zh-CN" b="1" i="1">
              <a:solidFill>
                <a:srgbClr val="FF0000"/>
              </a:solidFill>
            </a:endParaRPr>
          </a:p>
        </p:txBody>
      </p:sp>
      <mc:AlternateContent xmlns:mc="http://schemas.openxmlformats.org/markup-compatibility/2006">
        <mc:Choice xmlns:a14="http://schemas.microsoft.com/office/drawing/2010/main" Requires="a14">
          <p:sp>
            <p:nvSpPr>
              <p:cNvPr id="5" name="圆角矩形 4"/>
              <p:cNvSpPr/>
              <p:nvPr/>
            </p:nvSpPr>
            <p:spPr>
              <a:xfrm>
                <a:off x="838200" y="3009900"/>
                <a:ext cx="4922520" cy="3166745"/>
              </a:xfrm>
              <a:prstGeom prst="roundRect">
                <a:avLst/>
              </a:prstGeom>
              <a:solidFill>
                <a:schemeClr val="bg1"/>
              </a:solidFill>
              <a:ln w="76200"/>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4000" b="1">
                    <a:solidFill>
                      <a:schemeClr val="accent1"/>
                    </a:solidFill>
                    <a:sym typeface="+mn-ea"/>
                  </a:rPr>
                  <a:t>A. 0-PD</a:t>
                </a:r>
                <a:endParaRPr lang="en-US" altLang="zh-CN" sz="4000" b="1">
                  <a:solidFill>
                    <a:schemeClr val="accent1"/>
                  </a:solidFill>
                  <a:sym typeface="+mn-ea"/>
                </a:endParaRPr>
              </a:p>
              <a:p>
                <a:pPr algn="r"/>
                <a:r>
                  <a:rPr lang="en-US" altLang="zh-CN" sz="2000" i="1">
                    <a:solidFill>
                      <a:schemeClr val="tx1"/>
                    </a:solidFill>
                    <a:sym typeface="+mn-ea"/>
                  </a:rPr>
                  <a:t>Similarity, Proximity</a:t>
                </a:r>
                <a:endParaRPr lang="en-US" altLang="zh-CN" sz="2400" i="1">
                  <a:solidFill>
                    <a:schemeClr val="tx1"/>
                  </a:solidFill>
                  <a:sym typeface="+mn-ea"/>
                </a:endParaRPr>
              </a:p>
              <a:p>
                <a:pPr algn="l"/>
                <a14:m>
                  <m:oMath xmlns:m="http://schemas.openxmlformats.org/officeDocument/2006/math">
                    <m:sSub>
                      <m:sSubPr>
                        <m:ctrlPr>
                          <a:rPr lang="en-US" altLang="zh-CN" sz="2400" i="1">
                            <a:solidFill>
                              <a:schemeClr val="tx1"/>
                            </a:solidFill>
                            <a:latin typeface="Cambria Math" panose="02040503050406030204" charset="0"/>
                            <a:cs typeface="Cambria Math" panose="02040503050406030204" charset="0"/>
                            <a:sym typeface="+mn-ea"/>
                          </a:rPr>
                        </m:ctrlPr>
                      </m:sSubPr>
                      <m:e>
                        <m:r>
                          <a:rPr lang="en-US" altLang="zh-CN" sz="2400" i="1">
                            <a:solidFill>
                              <a:schemeClr val="tx1"/>
                            </a:solidFill>
                            <a:latin typeface="Cambria Math" panose="02040503050406030204" charset="0"/>
                            <a:cs typeface="Cambria Math" panose="02040503050406030204" charset="0"/>
                            <a:sym typeface="+mn-ea"/>
                          </a:rPr>
                          <m:t>𝜀</m:t>
                        </m:r>
                      </m:e>
                      <m:sub>
                        <m:r>
                          <a:rPr lang="en-US" altLang="zh-CN" sz="2400" i="1">
                            <a:solidFill>
                              <a:schemeClr val="tx1"/>
                            </a:solidFill>
                            <a:latin typeface="Cambria Math" panose="02040503050406030204" charset="0"/>
                            <a:cs typeface="Cambria Math" panose="02040503050406030204" charset="0"/>
                            <a:sym typeface="+mn-ea"/>
                          </a:rPr>
                          <m:t>𝑔</m:t>
                        </m:r>
                      </m:sub>
                    </m:sSub>
                  </m:oMath>
                </a14:m>
                <a:r>
                  <a:rPr lang="en-US" altLang="zh-CN" sz="2400">
                    <a:solidFill>
                      <a:schemeClr val="tx1"/>
                    </a:solidFill>
                    <a:sym typeface="+mn-ea"/>
                  </a:rPr>
                  <a:t>: greater than the </a:t>
                </a:r>
                <a:r>
                  <a:rPr lang="en-US" altLang="zh-CN" sz="2400" i="1">
                    <a:solidFill>
                      <a:schemeClr val="tx1"/>
                    </a:solidFill>
                    <a:sym typeface="+mn-ea"/>
                  </a:rPr>
                  <a:t>largest death time </a:t>
                </a:r>
                <a14:m>
                  <m:oMath xmlns:m="http://schemas.openxmlformats.org/officeDocument/2006/math">
                    <m:sSub>
                      <m:sSubPr>
                        <m:ctrlPr>
                          <a:rPr lang="en-US" altLang="zh-CN" sz="2400" i="1">
                            <a:solidFill>
                              <a:schemeClr val="tx1"/>
                            </a:solidFill>
                            <a:latin typeface="Cambria Math" panose="02040503050406030204" charset="0"/>
                            <a:cs typeface="Cambria Math" panose="02040503050406030204" charset="0"/>
                            <a:sym typeface="+mn-ea"/>
                          </a:rPr>
                        </m:ctrlPr>
                      </m:sSubPr>
                      <m:e>
                        <m:r>
                          <a:rPr lang="en-US" altLang="zh-CN" sz="2400" i="1">
                            <a:solidFill>
                              <a:schemeClr val="tx1"/>
                            </a:solidFill>
                            <a:latin typeface="Cambria Math" panose="02040503050406030204" charset="0"/>
                            <a:cs typeface="Cambria Math" panose="02040503050406030204" charset="0"/>
                            <a:sym typeface="+mn-ea"/>
                          </a:rPr>
                          <m:t>𝑡</m:t>
                        </m:r>
                      </m:e>
                      <m:sub>
                        <m:r>
                          <a:rPr lang="en-US" altLang="zh-CN" sz="2400" i="1">
                            <a:solidFill>
                              <a:schemeClr val="tx1"/>
                            </a:solidFill>
                            <a:latin typeface="Cambria Math" panose="02040503050406030204" charset="0"/>
                            <a:cs typeface="Cambria Math" panose="02040503050406030204" charset="0"/>
                            <a:sym typeface="+mn-ea"/>
                          </a:rPr>
                          <m:t>𝑑</m:t>
                        </m:r>
                      </m:sub>
                    </m:sSub>
                  </m:oMath>
                </a14:m>
                <a:r>
                  <a:rPr lang="en-US" altLang="zh-CN" sz="2400" i="1">
                    <a:solidFill>
                      <a:schemeClr val="tx1"/>
                    </a:solidFill>
                    <a:sym typeface="+mn-ea"/>
                  </a:rPr>
                  <a:t> of the noise points</a:t>
                </a:r>
                <a:r>
                  <a:rPr lang="en-US" altLang="zh-CN" sz="2400">
                    <a:solidFill>
                      <a:schemeClr val="tx1"/>
                    </a:solidFill>
                    <a:sym typeface="+mn-ea"/>
                  </a:rPr>
                  <a:t> and less than the smallest death time of the significant points</a:t>
                </a:r>
                <a:endParaRPr lang="en-US" altLang="zh-CN" sz="2400">
                  <a:solidFill>
                    <a:schemeClr val="tx1"/>
                  </a:solidFill>
                  <a:sym typeface="+mn-ea"/>
                </a:endParaRPr>
              </a:p>
            </p:txBody>
          </p:sp>
        </mc:Choice>
        <mc:Fallback>
          <p:sp>
            <p:nvSpPr>
              <p:cNvPr id="5" name="圆角矩形 4"/>
              <p:cNvSpPr>
                <a:spLocks noRot="1" noChangeAspect="1" noMove="1" noResize="1" noEditPoints="1" noAdjustHandles="1" noChangeArrowheads="1" noChangeShapeType="1" noTextEdit="1"/>
              </p:cNvSpPr>
              <p:nvPr/>
            </p:nvSpPr>
            <p:spPr>
              <a:xfrm>
                <a:off x="838200" y="3009900"/>
                <a:ext cx="4922520" cy="3166745"/>
              </a:xfrm>
              <a:prstGeom prst="roundRect">
                <a:avLst/>
              </a:prstGeom>
              <a:blipFill rotWithShape="1">
                <a:blip r:embed="rId1"/>
                <a:stretch>
                  <a:fillRect l="-774" t="-1203" r="-774" b="-1203"/>
                </a:stretch>
              </a:blipFill>
              <a:ln w="76200"/>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圆角矩形 5"/>
              <p:cNvSpPr/>
              <p:nvPr/>
            </p:nvSpPr>
            <p:spPr>
              <a:xfrm>
                <a:off x="6431280" y="3009900"/>
                <a:ext cx="4922520" cy="3166745"/>
              </a:xfrm>
              <a:prstGeom prst="roundRect">
                <a:avLst/>
              </a:prstGeom>
              <a:solidFill>
                <a:schemeClr val="bg1"/>
              </a:solidFill>
              <a:ln w="76200"/>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4000" b="1">
                    <a:solidFill>
                      <a:schemeClr val="accent1"/>
                    </a:solidFill>
                    <a:sym typeface="+mn-ea"/>
                  </a:rPr>
                  <a:t>B. 1-PD</a:t>
                </a:r>
                <a:endParaRPr lang="en-US" altLang="zh-CN" sz="4000" b="1">
                  <a:solidFill>
                    <a:schemeClr val="accent1"/>
                  </a:solidFill>
                  <a:sym typeface="+mn-ea"/>
                </a:endParaRPr>
              </a:p>
              <a:p>
                <a:pPr algn="r"/>
                <a:r>
                  <a:rPr lang="en-US" altLang="zh-CN" sz="2000" i="1">
                    <a:solidFill>
                      <a:schemeClr val="tx1"/>
                    </a:solidFill>
                    <a:sym typeface="+mn-ea"/>
                  </a:rPr>
                  <a:t>Closure, Good Continuation, Simplicity</a:t>
                </a:r>
                <a:endParaRPr lang="en-US" altLang="zh-CN" sz="2000" i="1">
                  <a:solidFill>
                    <a:schemeClr val="tx1"/>
                  </a:solidFill>
                  <a:sym typeface="+mn-ea"/>
                </a:endParaRPr>
              </a:p>
              <a:p>
                <a:pPr algn="l"/>
                <a14:m>
                  <m:oMath xmlns:m="http://schemas.openxmlformats.org/officeDocument/2006/math">
                    <m:sSub>
                      <m:sSubPr>
                        <m:ctrlPr>
                          <a:rPr lang="en-US" altLang="zh-CN" sz="2400" i="1">
                            <a:solidFill>
                              <a:schemeClr val="tx1"/>
                            </a:solidFill>
                            <a:latin typeface="Cambria Math" panose="02040503050406030204" charset="0"/>
                            <a:cs typeface="Cambria Math" panose="02040503050406030204" charset="0"/>
                            <a:sym typeface="+mn-ea"/>
                          </a:rPr>
                        </m:ctrlPr>
                      </m:sSubPr>
                      <m:e>
                        <m:r>
                          <a:rPr lang="en-US" altLang="zh-CN" sz="2400" i="1">
                            <a:solidFill>
                              <a:schemeClr val="tx1"/>
                            </a:solidFill>
                            <a:latin typeface="Cambria Math" panose="02040503050406030204" charset="0"/>
                            <a:cs typeface="Cambria Math" panose="02040503050406030204" charset="0"/>
                            <a:sym typeface="+mn-ea"/>
                          </a:rPr>
                          <m:t>𝜀</m:t>
                        </m:r>
                      </m:e>
                      <m:sub>
                        <m:r>
                          <a:rPr lang="en-US" altLang="zh-CN" sz="2400" i="1">
                            <a:solidFill>
                              <a:schemeClr val="tx1"/>
                            </a:solidFill>
                            <a:latin typeface="Cambria Math" panose="02040503050406030204" charset="0"/>
                            <a:cs typeface="Cambria Math" panose="02040503050406030204" charset="0"/>
                            <a:sym typeface="+mn-ea"/>
                          </a:rPr>
                          <m:t>𝑔</m:t>
                        </m:r>
                      </m:sub>
                    </m:sSub>
                  </m:oMath>
                </a14:m>
                <a:r>
                  <a:rPr lang="en-US" altLang="zh-CN" sz="2400">
                    <a:solidFill>
                      <a:schemeClr val="tx1"/>
                    </a:solidFill>
                    <a:sym typeface="+mn-ea"/>
                  </a:rPr>
                  <a:t>: greater than the </a:t>
                </a:r>
                <a:r>
                  <a:rPr lang="en-US" altLang="zh-CN" sz="2400" i="1">
                    <a:solidFill>
                      <a:schemeClr val="tx1"/>
                    </a:solidFill>
                    <a:sym typeface="+mn-ea"/>
                  </a:rPr>
                  <a:t>largest birth time </a:t>
                </a:r>
                <a14:m>
                  <m:oMath xmlns:m="http://schemas.openxmlformats.org/officeDocument/2006/math">
                    <m:sSub>
                      <m:sSubPr>
                        <m:ctrlPr>
                          <a:rPr lang="en-US" altLang="zh-CN" sz="2400" i="1">
                            <a:solidFill>
                              <a:schemeClr val="tx1"/>
                            </a:solidFill>
                            <a:latin typeface="Cambria Math" panose="02040503050406030204" charset="0"/>
                            <a:cs typeface="Cambria Math" panose="02040503050406030204" charset="0"/>
                            <a:sym typeface="+mn-ea"/>
                          </a:rPr>
                        </m:ctrlPr>
                      </m:sSubPr>
                      <m:e>
                        <m:r>
                          <a:rPr lang="en-US" altLang="zh-CN" sz="2400" i="1">
                            <a:solidFill>
                              <a:schemeClr val="tx1"/>
                            </a:solidFill>
                            <a:latin typeface="Cambria Math" panose="02040503050406030204" charset="0"/>
                            <a:cs typeface="Cambria Math" panose="02040503050406030204" charset="0"/>
                            <a:sym typeface="+mn-ea"/>
                          </a:rPr>
                          <m:t>𝑡</m:t>
                        </m:r>
                      </m:e>
                      <m:sub>
                        <m:r>
                          <a:rPr lang="en-US" altLang="zh-CN" sz="2400" i="1">
                            <a:solidFill>
                              <a:schemeClr val="tx1"/>
                            </a:solidFill>
                            <a:latin typeface="Cambria Math" panose="02040503050406030204" charset="0"/>
                            <a:cs typeface="Cambria Math" panose="02040503050406030204" charset="0"/>
                            <a:sym typeface="+mn-ea"/>
                          </a:rPr>
                          <m:t>𝑏</m:t>
                        </m:r>
                      </m:sub>
                    </m:sSub>
                  </m:oMath>
                </a14:m>
                <a:r>
                  <a:rPr lang="en-US" altLang="zh-CN" sz="2400" i="1">
                    <a:solidFill>
                      <a:schemeClr val="tx1"/>
                    </a:solidFill>
                    <a:sym typeface="+mn-ea"/>
                  </a:rPr>
                  <a:t> of the significant points</a:t>
                </a:r>
                <a:r>
                  <a:rPr lang="en-US" altLang="zh-CN" sz="2400">
                    <a:solidFill>
                      <a:schemeClr val="tx1"/>
                    </a:solidFill>
                    <a:sym typeface="+mn-ea"/>
                  </a:rPr>
                  <a:t> and less than the smallest death time of the significant points</a:t>
                </a:r>
                <a:endParaRPr lang="en-US" altLang="zh-CN" sz="2400" i="1">
                  <a:solidFill>
                    <a:schemeClr val="tx1"/>
                  </a:solidFill>
                  <a:sym typeface="+mn-ea"/>
                </a:endParaRPr>
              </a:p>
            </p:txBody>
          </p:sp>
        </mc:Choice>
        <mc:Fallback>
          <p:sp>
            <p:nvSpPr>
              <p:cNvPr id="6" name="圆角矩形 5"/>
              <p:cNvSpPr>
                <a:spLocks noRot="1" noChangeAspect="1" noMove="1" noResize="1" noEditPoints="1" noAdjustHandles="1" noChangeArrowheads="1" noChangeShapeType="1" noTextEdit="1"/>
              </p:cNvSpPr>
              <p:nvPr/>
            </p:nvSpPr>
            <p:spPr>
              <a:xfrm>
                <a:off x="6431280" y="3009900"/>
                <a:ext cx="4922520" cy="3166745"/>
              </a:xfrm>
              <a:prstGeom prst="roundRect">
                <a:avLst/>
              </a:prstGeom>
              <a:blipFill rotWithShape="1">
                <a:blip r:embed="rId2"/>
                <a:stretch>
                  <a:fillRect l="-774" t="-1203" r="-774" b="-1203"/>
                </a:stretch>
              </a:blipFill>
              <a:ln w="76200"/>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i="1"/>
              <a:t>Future Works</a:t>
            </a:r>
            <a:endParaRPr lang="en-US" altLang="zh-CN" b="1" i="1"/>
          </a:p>
        </p:txBody>
      </p:sp>
      <p:sp>
        <p:nvSpPr>
          <p:cNvPr id="3" name="内容占位符 2"/>
          <p:cNvSpPr>
            <a:spLocks noGrp="1"/>
          </p:cNvSpPr>
          <p:nvPr>
            <p:ph idx="1"/>
          </p:nvPr>
        </p:nvSpPr>
        <p:spPr/>
        <p:txBody>
          <a:bodyPr>
            <a:normAutofit lnSpcReduction="10000"/>
          </a:bodyPr>
          <a:p>
            <a:r>
              <a:rPr lang="zh-CN" altLang="en-US"/>
              <a:t>Search for the mathematical expression of factors affecting auditory streaming and categorize them</a:t>
            </a:r>
            <a:r>
              <a:rPr lang="en-US" altLang="zh-CN"/>
              <a:t> </a:t>
            </a:r>
            <a:r>
              <a:rPr lang="zh-CN" altLang="en-US"/>
              <a:t>into those suitable for topological analysis and those that are not.</a:t>
            </a:r>
            <a:endParaRPr lang="zh-CN" altLang="en-US"/>
          </a:p>
          <a:p>
            <a:r>
              <a:rPr lang="zh-CN" altLang="en-US"/>
              <a:t>Attempt to apply time-delay embedding and form persistence diagram.</a:t>
            </a:r>
            <a:endParaRPr lang="zh-CN" altLang="en-US"/>
          </a:p>
          <a:p>
            <a:r>
              <a:rPr lang="zh-CN" altLang="en-US"/>
              <a:t>Explore potential synergies with the research conducted by Prof. Ximena Fernández</a:t>
            </a:r>
            <a:r>
              <a:rPr lang="en-US" altLang="zh-CN"/>
              <a:t>*</a:t>
            </a:r>
            <a:r>
              <a:rPr lang="zh-CN" altLang="en-US"/>
              <a:t> and Prof.</a:t>
            </a:r>
            <a:r>
              <a:rPr lang="en-US" altLang="zh-CN"/>
              <a:t> </a:t>
            </a:r>
            <a:r>
              <a:rPr lang="zh-CN" altLang="en-US"/>
              <a:t>Hongwei Lin to uncover additional possibilities.</a:t>
            </a:r>
            <a:endParaRPr lang="zh-CN" altLang="en-US"/>
          </a:p>
          <a:p>
            <a:r>
              <a:rPr lang="zh-CN" altLang="en-US"/>
              <a:t>Attempt to study the emergence from factors to principles of auditory perception.</a:t>
            </a:r>
            <a:endParaRPr lang="zh-CN" altLang="en-US"/>
          </a:p>
        </p:txBody>
      </p:sp>
      <p:sp>
        <p:nvSpPr>
          <p:cNvPr id="4" name="文本框 3"/>
          <p:cNvSpPr txBox="1"/>
          <p:nvPr/>
        </p:nvSpPr>
        <p:spPr>
          <a:xfrm>
            <a:off x="4579620" y="5776595"/>
            <a:ext cx="7406005" cy="922020"/>
          </a:xfrm>
          <a:prstGeom prst="rect">
            <a:avLst/>
          </a:prstGeom>
          <a:noFill/>
        </p:spPr>
        <p:txBody>
          <a:bodyPr wrap="square" rtlCol="0">
            <a:spAutoFit/>
          </a:bodyPr>
          <a:p>
            <a:r>
              <a:rPr lang="en-US" altLang="zh-CN"/>
              <a:t>*</a:t>
            </a:r>
            <a:r>
              <a:rPr lang="zh-CN" altLang="en-US"/>
              <a:t>Reise, Wojciech, Ximena Fernández, Maria Dominguez, Heather A. Harrington, and Mariano Beguerisse-Díaz. 2023. ‘Topological Fingerprints for Audio Identification’.</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i="1"/>
              <a:t>Problems</a:t>
            </a:r>
            <a:endParaRPr lang="en-US" altLang="zh-CN" b="1" i="1"/>
          </a:p>
        </p:txBody>
      </p:sp>
      <p:sp>
        <p:nvSpPr>
          <p:cNvPr id="3" name="内容占位符 2"/>
          <p:cNvSpPr>
            <a:spLocks noGrp="1"/>
          </p:cNvSpPr>
          <p:nvPr>
            <p:ph idx="1"/>
          </p:nvPr>
        </p:nvSpPr>
        <p:spPr/>
        <p:txBody>
          <a:bodyPr/>
          <a:p>
            <a:r>
              <a:rPr lang="zh-CN" altLang="en-US"/>
              <a:t>In real-world scenarios, people</a:t>
            </a:r>
            <a:r>
              <a:rPr lang="en-US" altLang="zh-CN"/>
              <a:t>’</a:t>
            </a:r>
            <a:r>
              <a:rPr lang="zh-CN" altLang="en-US"/>
              <a:t>s application of these principles is likely to be multifaceted, and further research</a:t>
            </a:r>
            <a:r>
              <a:rPr lang="en-US" altLang="zh-CN"/>
              <a:t> </a:t>
            </a:r>
            <a:r>
              <a:rPr lang="zh-CN" altLang="en-US"/>
              <a:t>is needed to understand how specific Gestalt rules are applied in practice.</a:t>
            </a:r>
            <a:endParaRPr lang="zh-CN" altLang="en-US"/>
          </a:p>
        </p:txBody>
      </p:sp>
      <p:pic>
        <p:nvPicPr>
          <p:cNvPr id="4" name="图片 3" descr="微信截图_20241006093336"/>
          <p:cNvPicPr>
            <a:picLocks noChangeAspect="1"/>
          </p:cNvPicPr>
          <p:nvPr/>
        </p:nvPicPr>
        <p:blipFill>
          <a:blip r:embed="rId1"/>
          <a:stretch>
            <a:fillRect/>
          </a:stretch>
        </p:blipFill>
        <p:spPr>
          <a:xfrm>
            <a:off x="3184525" y="3159125"/>
            <a:ext cx="5823585" cy="3439795"/>
          </a:xfrm>
          <a:prstGeom prst="rect">
            <a:avLst/>
          </a:prstGeom>
        </p:spPr>
      </p:pic>
      <p:sp>
        <p:nvSpPr>
          <p:cNvPr id="5" name="圆角矩形 4"/>
          <p:cNvSpPr/>
          <p:nvPr/>
        </p:nvSpPr>
        <p:spPr>
          <a:xfrm>
            <a:off x="3837305" y="254635"/>
            <a:ext cx="7798435" cy="14916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When constructing the model, I think it can be done by first building out the individual auditory streams and then assembling them together. Finally test whether our model can restore the separate auditory streams at the very beginning.</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b="1" i="1"/>
              <a:t>Thank you!</a:t>
            </a:r>
            <a:endParaRPr lang="en-US" altLang="zh-CN" b="1" i="1"/>
          </a:p>
        </p:txBody>
      </p:sp>
    </p:spTree>
  </p:cSld>
  <p:clrMapOvr>
    <a:masterClrMapping/>
  </p:clrMapOvr>
</p:sld>
</file>

<file path=ppt/tags/tag1.xml><?xml version="1.0" encoding="utf-8"?>
<p:tagLst xmlns:p="http://schemas.openxmlformats.org/presentationml/2006/main">
  <p:tag name="commondata" val="eyJoZGlkIjoiYWIxYmRjOTlhNWM3ODM5NDU5ZTVlYzMxYTBkM2Y3ODg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5155</Words>
  <Application>WPS 演示</Application>
  <PresentationFormat>宽屏</PresentationFormat>
  <Paragraphs>102</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宋体</vt:lpstr>
      <vt:lpstr>Wingdings</vt:lpstr>
      <vt:lpstr>Wingdings</vt:lpstr>
      <vt:lpstr>Cambria Math</vt:lpstr>
      <vt:lpstr>Calibri</vt:lpstr>
      <vt:lpstr>微软雅黑</vt:lpstr>
      <vt:lpstr>Arial Unicode MS</vt:lpstr>
      <vt:lpstr>WPS</vt:lpstr>
      <vt:lpstr>Gestalt Principle in Auditory Perception</vt:lpstr>
      <vt:lpstr>Introduction</vt:lpstr>
      <vt:lpstr>Gestalt Principle in Visual Perception Proximity</vt:lpstr>
      <vt:lpstr>Gestalt Principle in Visual Perception Similarity</vt:lpstr>
      <vt:lpstr>Gestalt Principle in Visual Perception Closure</vt:lpstr>
      <vt:lpstr>Gestalt Principle in Visual Perception Good Continuation</vt:lpstr>
      <vt:lpstr>Gestalt Principle in Visual Perception Simplicity</vt:lpstr>
      <vt:lpstr>Gestalt Principle in Visual Perception Common Fate</vt:lpstr>
      <vt:lpstr>Gestalt Principle in Visual Perception Rhythmic Law</vt:lpstr>
      <vt:lpstr>Gestalt Principle in Auditory Perception Factors Affecting Auditory Streaming</vt:lpstr>
      <vt:lpstr>Gestalt Principle in Auditory Perception Examples</vt:lpstr>
      <vt:lpstr>The Gestalt Computational Model in Auditory Perception Research Plan</vt:lpstr>
      <vt:lpstr>PowerPoint 演示文稿</vt:lpstr>
      <vt:lpstr>PowerPoint 演示文稿</vt:lpstr>
      <vt:lpstr>The Gestalt Computational Model in Auditory Perception Research Plan</vt:lpstr>
      <vt:lpstr>Restruction of the Gestalt Principle by VR Complex Point Cluster</vt:lpstr>
      <vt:lpstr>Future Works</vt:lpstr>
      <vt:lpstr>Problems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秦雨禾Alina</cp:lastModifiedBy>
  <cp:revision>11</cp:revision>
  <dcterms:created xsi:type="dcterms:W3CDTF">2023-08-09T12:44:00Z</dcterms:created>
  <dcterms:modified xsi:type="dcterms:W3CDTF">2024-11-15T12:31:13Z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2052-12.1.0.18608</vt:lpwstr>
  </property>
</Properties>
</file>